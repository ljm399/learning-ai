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377" r:id="rId3"/>
    <p:sldId id="378" r:id="rId4"/>
    <p:sldId id="362" r:id="rId5"/>
    <p:sldId id="365" r:id="rId6"/>
    <p:sldId id="383" r:id="rId7"/>
    <p:sldId id="382" r:id="rId8"/>
    <p:sldId id="384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2" clrIdx="0">
    <p:extLst>
      <p:ext uri="{19B8F6BF-5375-455C-9EA6-DF929625EA0E}">
        <p15:presenceInfo xmlns:p15="http://schemas.microsoft.com/office/powerpoint/2012/main" userId="Administrato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DBF7"/>
    <a:srgbClr val="2B2B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07" autoAdjust="0"/>
  </p:normalViewPr>
  <p:slideViewPr>
    <p:cSldViewPr snapToGrid="0">
      <p:cViewPr varScale="1">
        <p:scale>
          <a:sx n="119" d="100"/>
          <a:sy n="119" d="100"/>
        </p:scale>
        <p:origin x="396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4CF0B0-5A9B-469E-A034-DE97A905742C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C35C40-5B42-440F-BB7E-07CDDE025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2254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35C40-5B42-440F-BB7E-07CDDE025CA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8566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555994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 userDrawn="1"/>
        </p:nvSpPr>
        <p:spPr>
          <a:xfrm>
            <a:off x="8924925" y="6257925"/>
            <a:ext cx="37623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effectLst/>
                <a:latin typeface="Adobe 仿宋 Std R" panose="02020400000000000000" pitchFamily="18" charset="-122"/>
                <a:ea typeface="Adobe 仿宋 Std R" panose="02020400000000000000" pitchFamily="18" charset="-122"/>
              </a:rPr>
              <a:t>让学习更有效率</a:t>
            </a:r>
            <a:endParaRPr lang="en-US" altLang="zh-CN" sz="1400" dirty="0">
              <a:effectLst/>
              <a:latin typeface="Adobe 仿宋 Std R" panose="02020400000000000000" pitchFamily="18" charset="-122"/>
              <a:ea typeface="Adobe 仿宋 Std R" panose="02020400000000000000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73936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70962908-B897-4E2E-A175-85C5ACA48282}"/>
              </a:ext>
            </a:extLst>
          </p:cNvPr>
          <p:cNvSpPr txBox="1"/>
          <p:nvPr/>
        </p:nvSpPr>
        <p:spPr>
          <a:xfrm>
            <a:off x="1276350" y="2253271"/>
            <a:ext cx="96393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b="1" dirty="0">
                <a:solidFill>
                  <a:schemeClr val="accent1"/>
                </a:solidFill>
                <a:ea typeface="思源黑体 CN Light" panose="020B0300000000000000" pitchFamily="34" charset="-122"/>
              </a:rPr>
              <a:t>固定工作流模式</a:t>
            </a:r>
            <a:endParaRPr lang="zh-CN" altLang="en-US" sz="6600" b="1" dirty="0">
              <a:solidFill>
                <a:schemeClr val="accent2"/>
              </a:solidFill>
              <a:ea typeface="思源黑体 CN Light" panose="020B03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59201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1CB7955C-211A-49DA-9E60-C5C090DA3663}"/>
              </a:ext>
            </a:extLst>
          </p:cNvPr>
          <p:cNvSpPr txBox="1"/>
          <p:nvPr/>
        </p:nvSpPr>
        <p:spPr>
          <a:xfrm>
            <a:off x="211670" y="282709"/>
            <a:ext cx="9232562" cy="50964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1218565">
              <a:lnSpc>
                <a:spcPct val="150000"/>
              </a:lnSpc>
              <a:buClr>
                <a:srgbClr val="1577BA"/>
              </a:buClr>
            </a:pPr>
            <a:r>
              <a:rPr lang="zh-CN" altLang="en-US" sz="2000" dirty="0">
                <a:solidFill>
                  <a:schemeClr val="tx2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先回忆下之前做的</a:t>
            </a:r>
            <a:r>
              <a:rPr lang="en-US" altLang="zh-CN" sz="2000" dirty="0">
                <a:solidFill>
                  <a:schemeClr val="tx2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AI</a:t>
            </a:r>
            <a:r>
              <a:rPr lang="zh-CN" altLang="en-US" sz="2000" dirty="0">
                <a:solidFill>
                  <a:schemeClr val="tx2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应用都是怎么工作的</a:t>
            </a:r>
            <a:endParaRPr lang="en-US" altLang="zh-CN" sz="2000" dirty="0">
              <a:solidFill>
                <a:schemeClr val="tx2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999092B-2D24-4748-AB97-29DC91035A43}"/>
              </a:ext>
            </a:extLst>
          </p:cNvPr>
          <p:cNvSpPr/>
          <p:nvPr/>
        </p:nvSpPr>
        <p:spPr>
          <a:xfrm>
            <a:off x="211670" y="344501"/>
            <a:ext cx="170396" cy="447304"/>
          </a:xfrm>
          <a:prstGeom prst="rect">
            <a:avLst/>
          </a:prstGeom>
          <a:solidFill>
            <a:srgbClr val="9AD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圆角矩形">
            <a:extLst>
              <a:ext uri="{FF2B5EF4-FFF2-40B4-BE49-F238E27FC236}">
                <a16:creationId xmlns:a16="http://schemas.microsoft.com/office/drawing/2014/main" id="{14ADE0B1-B47A-4ED2-AB38-54D77DC4BF42}"/>
              </a:ext>
            </a:extLst>
          </p:cNvPr>
          <p:cNvSpPr/>
          <p:nvPr/>
        </p:nvSpPr>
        <p:spPr>
          <a:xfrm>
            <a:off x="211670" y="890345"/>
            <a:ext cx="11302997" cy="116304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67466" tIns="67466" rIns="67466" bIns="67466" anchor="ctr"/>
          <a:lstStyle/>
          <a:p>
            <a:pPr algn="just">
              <a:defRPr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5BD3F53-EAAD-47F9-8E02-650A72A1C4A6}"/>
              </a:ext>
            </a:extLst>
          </p:cNvPr>
          <p:cNvSpPr txBox="1"/>
          <p:nvPr/>
        </p:nvSpPr>
        <p:spPr>
          <a:xfrm>
            <a:off x="211670" y="820343"/>
            <a:ext cx="10939603" cy="1156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我们之前做的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应用，其实都是</a:t>
            </a:r>
            <a:r>
              <a:rPr lang="en-US" altLang="zh-CN" sz="16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ReAct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架构。也就是把一堆可能会用的工具给到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来决定怎么调度。</a:t>
            </a:r>
            <a:endParaRPr lang="en-US" altLang="zh-CN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比如我们之前做的导购应用，导购这件事做事的逻辑是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用户提出需求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-》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查询服装推荐攻略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-》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查询公司商品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-》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推荐给用户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46860AE-91D2-4361-9501-DEF11D05D1CB}"/>
              </a:ext>
            </a:extLst>
          </p:cNvPr>
          <p:cNvSpPr/>
          <p:nvPr/>
        </p:nvSpPr>
        <p:spPr>
          <a:xfrm>
            <a:off x="741501" y="2671010"/>
            <a:ext cx="2081909" cy="8783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查攻略工具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98711B4-87BA-45D7-B543-00916B94C15C}"/>
              </a:ext>
            </a:extLst>
          </p:cNvPr>
          <p:cNvSpPr/>
          <p:nvPr/>
        </p:nvSpPr>
        <p:spPr>
          <a:xfrm>
            <a:off x="741500" y="4227093"/>
            <a:ext cx="2081909" cy="8783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查商品工具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601DD4-9692-4AD8-9A54-182BF680EE8B}"/>
              </a:ext>
            </a:extLst>
          </p:cNvPr>
          <p:cNvSpPr/>
          <p:nvPr/>
        </p:nvSpPr>
        <p:spPr>
          <a:xfrm>
            <a:off x="3545305" y="3110162"/>
            <a:ext cx="2550695" cy="152600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ai</a:t>
            </a:r>
            <a:r>
              <a:rPr lang="zh-CN" altLang="en-US" dirty="0"/>
              <a:t>应用</a:t>
            </a: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18C6E48F-B47C-4F4C-863C-36BA52F69E52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2823410" y="3110163"/>
            <a:ext cx="721895" cy="7630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BF55F4DE-D737-48F9-BFC9-BDE6DC27C1CC}"/>
              </a:ext>
            </a:extLst>
          </p:cNvPr>
          <p:cNvCxnSpPr>
            <a:stCxn id="7" idx="3"/>
            <a:endCxn id="3" idx="1"/>
          </p:cNvCxnSpPr>
          <p:nvPr/>
        </p:nvCxnSpPr>
        <p:spPr>
          <a:xfrm flipV="1">
            <a:off x="2823409" y="3873165"/>
            <a:ext cx="721896" cy="7930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F39F5BA0-A073-48CE-8D59-6539FD42B437}"/>
              </a:ext>
            </a:extLst>
          </p:cNvPr>
          <p:cNvSpPr/>
          <p:nvPr/>
        </p:nvSpPr>
        <p:spPr>
          <a:xfrm>
            <a:off x="3933603" y="5255793"/>
            <a:ext cx="1788695" cy="8742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用户提出需求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CAD6B3B5-8208-4732-BA64-AD1DA8F812C2}"/>
              </a:ext>
            </a:extLst>
          </p:cNvPr>
          <p:cNvCxnSpPr>
            <a:stCxn id="9" idx="0"/>
            <a:endCxn id="3" idx="2"/>
          </p:cNvCxnSpPr>
          <p:nvPr/>
        </p:nvCxnSpPr>
        <p:spPr>
          <a:xfrm flipH="1" flipV="1">
            <a:off x="4820653" y="4636168"/>
            <a:ext cx="7298" cy="6196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5FFDD273-26FC-4ECE-923F-D9C30370346A}"/>
              </a:ext>
            </a:extLst>
          </p:cNvPr>
          <p:cNvSpPr/>
          <p:nvPr/>
        </p:nvSpPr>
        <p:spPr>
          <a:xfrm>
            <a:off x="6765035" y="3436017"/>
            <a:ext cx="1788695" cy="8742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ai</a:t>
            </a:r>
            <a:r>
              <a:rPr lang="zh-CN" altLang="en-US" dirty="0"/>
              <a:t>自己思考来决定用哪个工具</a:t>
            </a: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0FDDC12C-F404-4513-A9E4-F23D13580CFB}"/>
              </a:ext>
            </a:extLst>
          </p:cNvPr>
          <p:cNvCxnSpPr>
            <a:stCxn id="3" idx="3"/>
            <a:endCxn id="19" idx="1"/>
          </p:cNvCxnSpPr>
          <p:nvPr/>
        </p:nvCxnSpPr>
        <p:spPr>
          <a:xfrm>
            <a:off x="6096000" y="3873165"/>
            <a:ext cx="6690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250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3" grpId="0" animBg="1"/>
      <p:bldP spid="9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1CB7955C-211A-49DA-9E60-C5C090DA3663}"/>
              </a:ext>
            </a:extLst>
          </p:cNvPr>
          <p:cNvSpPr txBox="1"/>
          <p:nvPr/>
        </p:nvSpPr>
        <p:spPr>
          <a:xfrm>
            <a:off x="211670" y="282709"/>
            <a:ext cx="9232562" cy="50964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1218565">
              <a:lnSpc>
                <a:spcPct val="150000"/>
              </a:lnSpc>
              <a:buClr>
                <a:srgbClr val="1577BA"/>
              </a:buClr>
            </a:pPr>
            <a:r>
              <a:rPr lang="zh-CN" altLang="en-US" sz="2000" dirty="0">
                <a:solidFill>
                  <a:schemeClr val="tx2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这种架构有什么优缺点呢？</a:t>
            </a:r>
            <a:endParaRPr lang="en-US" altLang="zh-CN" sz="2000" dirty="0">
              <a:solidFill>
                <a:schemeClr val="tx2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999092B-2D24-4748-AB97-29DC91035A43}"/>
              </a:ext>
            </a:extLst>
          </p:cNvPr>
          <p:cNvSpPr/>
          <p:nvPr/>
        </p:nvSpPr>
        <p:spPr>
          <a:xfrm>
            <a:off x="211670" y="344501"/>
            <a:ext cx="170396" cy="447304"/>
          </a:xfrm>
          <a:prstGeom prst="rect">
            <a:avLst/>
          </a:prstGeom>
          <a:solidFill>
            <a:srgbClr val="9AD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20BEC57-F394-4D5C-9E5E-9426C7813BFE}"/>
              </a:ext>
            </a:extLst>
          </p:cNvPr>
          <p:cNvSpPr/>
          <p:nvPr/>
        </p:nvSpPr>
        <p:spPr>
          <a:xfrm>
            <a:off x="387143" y="1074821"/>
            <a:ext cx="246520" cy="2486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2BE10B3-907E-4CBF-94D0-B48DA1271A1C}"/>
              </a:ext>
            </a:extLst>
          </p:cNvPr>
          <p:cNvSpPr txBox="1"/>
          <p:nvPr/>
        </p:nvSpPr>
        <p:spPr>
          <a:xfrm>
            <a:off x="753979" y="1025835"/>
            <a:ext cx="2189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优点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C14189C-FB67-469B-839A-29BE0C4C7CE6}"/>
              </a:ext>
            </a:extLst>
          </p:cNvPr>
          <p:cNvSpPr txBox="1"/>
          <p:nvPr/>
        </p:nvSpPr>
        <p:spPr>
          <a:xfrm>
            <a:off x="312821" y="1740568"/>
            <a:ext cx="368968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，智能性高，一个</a:t>
            </a:r>
            <a:r>
              <a:rPr lang="en-US" altLang="zh-CN" dirty="0"/>
              <a:t>AI</a:t>
            </a:r>
            <a:r>
              <a:rPr lang="zh-CN" altLang="en-US" dirty="0"/>
              <a:t>应用处理闲聊，购物，退货等各种问题。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用户提什么问题我们都能接住，因为</a:t>
            </a:r>
            <a:r>
              <a:rPr lang="en-US" altLang="zh-CN" dirty="0"/>
              <a:t>ai</a:t>
            </a:r>
            <a:r>
              <a:rPr lang="zh-CN" altLang="en-US" dirty="0"/>
              <a:t>会聪明的判断用什么工具。我们只需要工具提供的足够就行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F0BDDA4-F8B0-4705-BE46-F79F6F6C22C3}"/>
              </a:ext>
            </a:extLst>
          </p:cNvPr>
          <p:cNvSpPr/>
          <p:nvPr/>
        </p:nvSpPr>
        <p:spPr>
          <a:xfrm>
            <a:off x="5480514" y="1074821"/>
            <a:ext cx="246520" cy="2486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10AB753-F332-4982-ADD3-40B40C27ADD0}"/>
              </a:ext>
            </a:extLst>
          </p:cNvPr>
          <p:cNvSpPr txBox="1"/>
          <p:nvPr/>
        </p:nvSpPr>
        <p:spPr>
          <a:xfrm>
            <a:off x="5847350" y="1025835"/>
            <a:ext cx="2189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缺点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F1B1412-CE60-414E-9900-22D223522AA9}"/>
              </a:ext>
            </a:extLst>
          </p:cNvPr>
          <p:cNvSpPr txBox="1"/>
          <p:nvPr/>
        </p:nvSpPr>
        <p:spPr>
          <a:xfrm>
            <a:off x="5398170" y="1605938"/>
            <a:ext cx="53420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，有可能走歪，智能体没有按推荐链路给用户推荐。对于一些要求非常严谨做事的</a:t>
            </a:r>
            <a:r>
              <a:rPr lang="en-US" altLang="zh-CN" dirty="0"/>
              <a:t>AI</a:t>
            </a:r>
            <a:r>
              <a:rPr lang="zh-CN" altLang="en-US" dirty="0"/>
              <a:t>应用有风险。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，智能体完成一次推荐，一来一回请求了多次大模型接口浪费</a:t>
            </a:r>
            <a:r>
              <a:rPr lang="en-US" altLang="zh-CN" dirty="0"/>
              <a:t>token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72925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 animBg="1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1CB7955C-211A-49DA-9E60-C5C090DA3663}"/>
              </a:ext>
            </a:extLst>
          </p:cNvPr>
          <p:cNvSpPr txBox="1"/>
          <p:nvPr/>
        </p:nvSpPr>
        <p:spPr>
          <a:xfrm>
            <a:off x="211670" y="282709"/>
            <a:ext cx="9232562" cy="50964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1218565">
              <a:lnSpc>
                <a:spcPct val="150000"/>
              </a:lnSpc>
              <a:buClr>
                <a:srgbClr val="1577BA"/>
              </a:buClr>
            </a:pPr>
            <a:r>
              <a:rPr lang="zh-CN" altLang="en-US" sz="2000" dirty="0">
                <a:solidFill>
                  <a:schemeClr val="tx2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怎么解决</a:t>
            </a:r>
            <a:endParaRPr lang="en-US" altLang="zh-CN" sz="2000" dirty="0">
              <a:solidFill>
                <a:schemeClr val="tx2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999092B-2D24-4748-AB97-29DC91035A43}"/>
              </a:ext>
            </a:extLst>
          </p:cNvPr>
          <p:cNvSpPr/>
          <p:nvPr/>
        </p:nvSpPr>
        <p:spPr>
          <a:xfrm>
            <a:off x="211670" y="344501"/>
            <a:ext cx="170396" cy="447304"/>
          </a:xfrm>
          <a:prstGeom prst="rect">
            <a:avLst/>
          </a:prstGeom>
          <a:solidFill>
            <a:srgbClr val="9AD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圆角矩形">
            <a:extLst>
              <a:ext uri="{FF2B5EF4-FFF2-40B4-BE49-F238E27FC236}">
                <a16:creationId xmlns:a16="http://schemas.microsoft.com/office/drawing/2014/main" id="{14ADE0B1-B47A-4ED2-AB38-54D77DC4BF42}"/>
              </a:ext>
            </a:extLst>
          </p:cNvPr>
          <p:cNvSpPr/>
          <p:nvPr/>
        </p:nvSpPr>
        <p:spPr>
          <a:xfrm>
            <a:off x="211670" y="890345"/>
            <a:ext cx="11302997" cy="50131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67466" tIns="67466" rIns="67466" bIns="67466" anchor="ctr"/>
          <a:lstStyle/>
          <a:p>
            <a:pPr algn="just">
              <a:defRPr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5BD3F53-EAAD-47F9-8E02-650A72A1C4A6}"/>
              </a:ext>
            </a:extLst>
          </p:cNvPr>
          <p:cNvSpPr txBox="1"/>
          <p:nvPr/>
        </p:nvSpPr>
        <p:spPr>
          <a:xfrm>
            <a:off x="296868" y="1084729"/>
            <a:ext cx="10939603" cy="3003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我们来设想一下，既然对于导购这个事情。流程都是这一套流程。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查询推荐攻略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-》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请求接口获取商品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-》ai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筛选出最合适的商品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我们仔细分析这一套基本固定的流程，我们可以发现，查询推荐攻略，请求接口获取商品其实根本用不上大模型来处理。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那我们再思考，我们是否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可以把一套固定流程中的可以不用过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部分抽离，这一部分我们用固定的代码处理。最终处理再用大模型？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88829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1CB7955C-211A-49DA-9E60-C5C090DA3663}"/>
              </a:ext>
            </a:extLst>
          </p:cNvPr>
          <p:cNvSpPr txBox="1"/>
          <p:nvPr/>
        </p:nvSpPr>
        <p:spPr>
          <a:xfrm>
            <a:off x="211670" y="282709"/>
            <a:ext cx="9232562" cy="50964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1218565">
              <a:lnSpc>
                <a:spcPct val="150000"/>
              </a:lnSpc>
              <a:buClr>
                <a:srgbClr val="1577BA"/>
              </a:buClr>
            </a:pPr>
            <a:r>
              <a:rPr lang="zh-CN" altLang="en-US" sz="2000" dirty="0">
                <a:solidFill>
                  <a:schemeClr val="tx2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</a:t>
            </a:r>
            <a:r>
              <a:rPr lang="en-US" altLang="zh-CN" sz="2000" dirty="0">
                <a:solidFill>
                  <a:schemeClr val="tx2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ai</a:t>
            </a:r>
            <a:r>
              <a:rPr lang="zh-CN" altLang="en-US" sz="2000" dirty="0">
                <a:solidFill>
                  <a:schemeClr val="tx2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定制工作流模式</a:t>
            </a:r>
            <a:endParaRPr lang="en-US" altLang="zh-CN" sz="2000" dirty="0">
              <a:solidFill>
                <a:schemeClr val="tx2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999092B-2D24-4748-AB97-29DC91035A43}"/>
              </a:ext>
            </a:extLst>
          </p:cNvPr>
          <p:cNvSpPr/>
          <p:nvPr/>
        </p:nvSpPr>
        <p:spPr>
          <a:xfrm>
            <a:off x="216747" y="345053"/>
            <a:ext cx="170396" cy="447304"/>
          </a:xfrm>
          <a:prstGeom prst="rect">
            <a:avLst/>
          </a:prstGeom>
          <a:solidFill>
            <a:srgbClr val="9AD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AF59F08-77DC-4DDC-B6FC-A0326E3AA344}"/>
              </a:ext>
            </a:extLst>
          </p:cNvPr>
          <p:cNvSpPr/>
          <p:nvPr/>
        </p:nvSpPr>
        <p:spPr>
          <a:xfrm>
            <a:off x="4110788" y="1355556"/>
            <a:ext cx="3284623" cy="8582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开发工作流上的节点</a:t>
            </a:r>
            <a:endParaRPr lang="en-US" altLang="zh-CN" dirty="0"/>
          </a:p>
          <a:p>
            <a:pPr algn="ctr"/>
            <a:r>
              <a:rPr lang="zh-CN" altLang="en-US" dirty="0"/>
              <a:t>有的发请求，有的执行代码，有的调用大模型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965CDC2-E1C4-4663-A26C-BC73C5BFA93D}"/>
              </a:ext>
            </a:extLst>
          </p:cNvPr>
          <p:cNvSpPr/>
          <p:nvPr/>
        </p:nvSpPr>
        <p:spPr>
          <a:xfrm>
            <a:off x="794084" y="1355556"/>
            <a:ext cx="2430379" cy="8582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固定一套工作流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AF19C0C-DB5C-4E5E-ACCD-7FEFF1BF01C4}"/>
              </a:ext>
            </a:extLst>
          </p:cNvPr>
          <p:cNvSpPr/>
          <p:nvPr/>
        </p:nvSpPr>
        <p:spPr>
          <a:xfrm>
            <a:off x="8422106" y="1355555"/>
            <a:ext cx="2430379" cy="8582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依次执行每一个节点</a:t>
            </a: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BBE0D1DC-78E5-4FDA-B62C-9B0F10D74856}"/>
              </a:ext>
            </a:extLst>
          </p:cNvPr>
          <p:cNvCxnSpPr>
            <a:cxnSpLocks/>
            <a:stCxn id="7" idx="3"/>
            <a:endCxn id="2" idx="1"/>
          </p:cNvCxnSpPr>
          <p:nvPr/>
        </p:nvCxnSpPr>
        <p:spPr>
          <a:xfrm>
            <a:off x="3224463" y="1784683"/>
            <a:ext cx="8863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4AA3C565-46D9-463B-889A-AD573D582885}"/>
              </a:ext>
            </a:extLst>
          </p:cNvPr>
          <p:cNvCxnSpPr>
            <a:cxnSpLocks/>
            <a:stCxn id="2" idx="3"/>
            <a:endCxn id="8" idx="1"/>
          </p:cNvCxnSpPr>
          <p:nvPr/>
        </p:nvCxnSpPr>
        <p:spPr>
          <a:xfrm flipV="1">
            <a:off x="7395411" y="1784682"/>
            <a:ext cx="102669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17CC9ECA-C128-49CE-B8FB-C0D9D090FADD}"/>
              </a:ext>
            </a:extLst>
          </p:cNvPr>
          <p:cNvSpPr/>
          <p:nvPr/>
        </p:nvSpPr>
        <p:spPr>
          <a:xfrm>
            <a:off x="8422106" y="2999873"/>
            <a:ext cx="2430379" cy="8582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给到用户最终结果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DB55B572-C1C2-4616-A1DD-EDEE470F8AA4}"/>
              </a:ext>
            </a:extLst>
          </p:cNvPr>
          <p:cNvCxnSpPr>
            <a:stCxn id="8" idx="2"/>
            <a:endCxn id="17" idx="0"/>
          </p:cNvCxnSpPr>
          <p:nvPr/>
        </p:nvCxnSpPr>
        <p:spPr>
          <a:xfrm>
            <a:off x="9637296" y="2213808"/>
            <a:ext cx="0" cy="7860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8594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8" grpId="0" animBg="1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1CB7955C-211A-49DA-9E60-C5C090DA3663}"/>
              </a:ext>
            </a:extLst>
          </p:cNvPr>
          <p:cNvSpPr txBox="1"/>
          <p:nvPr/>
        </p:nvSpPr>
        <p:spPr>
          <a:xfrm>
            <a:off x="211670" y="282709"/>
            <a:ext cx="9232562" cy="50964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1218565">
              <a:lnSpc>
                <a:spcPct val="150000"/>
              </a:lnSpc>
              <a:buClr>
                <a:srgbClr val="1577BA"/>
              </a:buClr>
            </a:pPr>
            <a:r>
              <a:rPr lang="zh-CN" altLang="en-US" sz="2000" dirty="0">
                <a:solidFill>
                  <a:schemeClr val="tx2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比如导购</a:t>
            </a:r>
            <a:endParaRPr lang="en-US" altLang="zh-CN" sz="2000" dirty="0">
              <a:solidFill>
                <a:schemeClr val="tx2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999092B-2D24-4748-AB97-29DC91035A43}"/>
              </a:ext>
            </a:extLst>
          </p:cNvPr>
          <p:cNvSpPr/>
          <p:nvPr/>
        </p:nvSpPr>
        <p:spPr>
          <a:xfrm>
            <a:off x="216747" y="345053"/>
            <a:ext cx="170396" cy="447304"/>
          </a:xfrm>
          <a:prstGeom prst="rect">
            <a:avLst/>
          </a:prstGeom>
          <a:solidFill>
            <a:srgbClr val="9AD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AF59F08-77DC-4DDC-B6FC-A0326E3AA344}"/>
              </a:ext>
            </a:extLst>
          </p:cNvPr>
          <p:cNvSpPr/>
          <p:nvPr/>
        </p:nvSpPr>
        <p:spPr>
          <a:xfrm>
            <a:off x="4086725" y="1403680"/>
            <a:ext cx="2209801" cy="7620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ai</a:t>
            </a:r>
            <a:r>
              <a:rPr lang="zh-CN" altLang="en-US" dirty="0"/>
              <a:t>分析购买商品节点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965CDC2-E1C4-4663-A26C-BC73C5BFA93D}"/>
              </a:ext>
            </a:extLst>
          </p:cNvPr>
          <p:cNvSpPr/>
          <p:nvPr/>
        </p:nvSpPr>
        <p:spPr>
          <a:xfrm>
            <a:off x="1339515" y="1355556"/>
            <a:ext cx="1884948" cy="8582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查询推荐穿衣攻略节点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AF19C0C-DB5C-4E5E-ACCD-7FEFF1BF01C4}"/>
              </a:ext>
            </a:extLst>
          </p:cNvPr>
          <p:cNvSpPr/>
          <p:nvPr/>
        </p:nvSpPr>
        <p:spPr>
          <a:xfrm>
            <a:off x="7206918" y="1355555"/>
            <a:ext cx="1884948" cy="8582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查询商品数据接口节点</a:t>
            </a: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BBE0D1DC-78E5-4FDA-B62C-9B0F10D74856}"/>
              </a:ext>
            </a:extLst>
          </p:cNvPr>
          <p:cNvCxnSpPr>
            <a:cxnSpLocks/>
            <a:stCxn id="7" idx="3"/>
            <a:endCxn id="2" idx="1"/>
          </p:cNvCxnSpPr>
          <p:nvPr/>
        </p:nvCxnSpPr>
        <p:spPr>
          <a:xfrm flipV="1">
            <a:off x="3224463" y="1784681"/>
            <a:ext cx="862262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4AA3C565-46D9-463B-889A-AD573D582885}"/>
              </a:ext>
            </a:extLst>
          </p:cNvPr>
          <p:cNvCxnSpPr>
            <a:cxnSpLocks/>
            <a:stCxn id="2" idx="3"/>
            <a:endCxn id="8" idx="1"/>
          </p:cNvCxnSpPr>
          <p:nvPr/>
        </p:nvCxnSpPr>
        <p:spPr>
          <a:xfrm>
            <a:off x="6296526" y="1784681"/>
            <a:ext cx="91039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17CC9ECA-C128-49CE-B8FB-C0D9D090FADD}"/>
              </a:ext>
            </a:extLst>
          </p:cNvPr>
          <p:cNvSpPr/>
          <p:nvPr/>
        </p:nvSpPr>
        <p:spPr>
          <a:xfrm>
            <a:off x="6934202" y="2777006"/>
            <a:ext cx="2430379" cy="8582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ai</a:t>
            </a:r>
            <a:r>
              <a:rPr lang="zh-CN" altLang="en-US" dirty="0"/>
              <a:t>最终分析节点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DB55B572-C1C2-4616-A1DD-EDEE470F8AA4}"/>
              </a:ext>
            </a:extLst>
          </p:cNvPr>
          <p:cNvCxnSpPr>
            <a:cxnSpLocks/>
            <a:stCxn id="8" idx="2"/>
            <a:endCxn id="17" idx="0"/>
          </p:cNvCxnSpPr>
          <p:nvPr/>
        </p:nvCxnSpPr>
        <p:spPr>
          <a:xfrm>
            <a:off x="8149392" y="2213808"/>
            <a:ext cx="0" cy="5631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1611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8" grpId="0" animBg="1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1CB7955C-211A-49DA-9E60-C5C090DA3663}"/>
              </a:ext>
            </a:extLst>
          </p:cNvPr>
          <p:cNvSpPr txBox="1"/>
          <p:nvPr/>
        </p:nvSpPr>
        <p:spPr>
          <a:xfrm>
            <a:off x="211670" y="282709"/>
            <a:ext cx="9232562" cy="50964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1218565">
              <a:lnSpc>
                <a:spcPct val="150000"/>
              </a:lnSpc>
              <a:buClr>
                <a:srgbClr val="1577BA"/>
              </a:buClr>
            </a:pPr>
            <a:r>
              <a:rPr lang="zh-CN" altLang="en-US" sz="2000" dirty="0">
                <a:solidFill>
                  <a:schemeClr val="tx2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再次反思</a:t>
            </a:r>
            <a:endParaRPr lang="en-US" altLang="zh-CN" sz="2000" dirty="0">
              <a:solidFill>
                <a:schemeClr val="tx2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999092B-2D24-4748-AB97-29DC91035A43}"/>
              </a:ext>
            </a:extLst>
          </p:cNvPr>
          <p:cNvSpPr/>
          <p:nvPr/>
        </p:nvSpPr>
        <p:spPr>
          <a:xfrm>
            <a:off x="216747" y="345053"/>
            <a:ext cx="170396" cy="447304"/>
          </a:xfrm>
          <a:prstGeom prst="rect">
            <a:avLst/>
          </a:prstGeom>
          <a:solidFill>
            <a:srgbClr val="9AD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圆角矩形">
            <a:extLst>
              <a:ext uri="{FF2B5EF4-FFF2-40B4-BE49-F238E27FC236}">
                <a16:creationId xmlns:a16="http://schemas.microsoft.com/office/drawing/2014/main" id="{E3675926-3F25-46F5-98B4-45992C68220D}"/>
              </a:ext>
            </a:extLst>
          </p:cNvPr>
          <p:cNvSpPr/>
          <p:nvPr/>
        </p:nvSpPr>
        <p:spPr>
          <a:xfrm>
            <a:off x="387142" y="1307441"/>
            <a:ext cx="11302997" cy="9184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67466" tIns="67466" rIns="67466" bIns="67466" anchor="ctr"/>
          <a:lstStyle/>
          <a:p>
            <a:pPr algn="just">
              <a:defRPr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0C7D636-BDE9-4151-B95D-2F57498EFD32}"/>
              </a:ext>
            </a:extLst>
          </p:cNvPr>
          <p:cNvSpPr txBox="1"/>
          <p:nvPr/>
        </p:nvSpPr>
        <p:spPr>
          <a:xfrm>
            <a:off x="387142" y="1324218"/>
            <a:ext cx="10939603" cy="787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这种方案适合固定的工作流，但是我们的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要支持导购外，还要能售后，能下单啊。你这固定这一条工作流了。用户要售后和下单怎么办？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圆角矩形">
            <a:extLst>
              <a:ext uri="{FF2B5EF4-FFF2-40B4-BE49-F238E27FC236}">
                <a16:creationId xmlns:a16="http://schemas.microsoft.com/office/drawing/2014/main" id="{B33AB0E6-CC22-44BC-B710-9D99F011D420}"/>
              </a:ext>
            </a:extLst>
          </p:cNvPr>
          <p:cNvSpPr/>
          <p:nvPr/>
        </p:nvSpPr>
        <p:spPr>
          <a:xfrm>
            <a:off x="444501" y="3312695"/>
            <a:ext cx="11302997" cy="53741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67466" tIns="67466" rIns="67466" bIns="67466" anchor="ctr"/>
          <a:lstStyle/>
          <a:p>
            <a:pPr algn="just">
              <a:defRPr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80CD323-94C9-4D6D-8C2F-FCB5F6C8E7B6}"/>
              </a:ext>
            </a:extLst>
          </p:cNvPr>
          <p:cNvSpPr txBox="1"/>
          <p:nvPr/>
        </p:nvSpPr>
        <p:spPr>
          <a:xfrm>
            <a:off x="444501" y="3329472"/>
            <a:ext cx="10939603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定义多条工作流，然后用户的需求先给到一个意图判断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判断意图后，看他是要走哪条工作流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B7CF373B-ADB6-4B36-91CC-1AA0743DBF5C}"/>
              </a:ext>
            </a:extLst>
          </p:cNvPr>
          <p:cNvCxnSpPr>
            <a:stCxn id="15" idx="2"/>
          </p:cNvCxnSpPr>
          <p:nvPr/>
        </p:nvCxnSpPr>
        <p:spPr>
          <a:xfrm flipH="1">
            <a:off x="6031832" y="2225841"/>
            <a:ext cx="6809" cy="10868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1174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1CB7955C-211A-49DA-9E60-C5C090DA3663}"/>
              </a:ext>
            </a:extLst>
          </p:cNvPr>
          <p:cNvSpPr txBox="1"/>
          <p:nvPr/>
        </p:nvSpPr>
        <p:spPr>
          <a:xfrm>
            <a:off x="211670" y="282709"/>
            <a:ext cx="9232562" cy="50964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1218565">
              <a:lnSpc>
                <a:spcPct val="150000"/>
              </a:lnSpc>
              <a:buClr>
                <a:srgbClr val="1577BA"/>
              </a:buClr>
            </a:pPr>
            <a:r>
              <a:rPr lang="en-US" altLang="zh-CN" sz="2000" dirty="0">
                <a:solidFill>
                  <a:schemeClr val="tx2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</a:t>
            </a:r>
            <a:r>
              <a:rPr lang="zh-CN" altLang="en-US" sz="2000" dirty="0">
                <a:solidFill>
                  <a:schemeClr val="tx2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意图判断多流程图</a:t>
            </a:r>
            <a:endParaRPr lang="en-US" altLang="zh-CN" sz="2000" dirty="0">
              <a:solidFill>
                <a:schemeClr val="tx2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999092B-2D24-4748-AB97-29DC91035A43}"/>
              </a:ext>
            </a:extLst>
          </p:cNvPr>
          <p:cNvSpPr/>
          <p:nvPr/>
        </p:nvSpPr>
        <p:spPr>
          <a:xfrm>
            <a:off x="216747" y="345053"/>
            <a:ext cx="170396" cy="447304"/>
          </a:xfrm>
          <a:prstGeom prst="rect">
            <a:avLst/>
          </a:prstGeom>
          <a:solidFill>
            <a:srgbClr val="9AD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AF59F08-77DC-4DDC-B6FC-A0326E3AA344}"/>
              </a:ext>
            </a:extLst>
          </p:cNvPr>
          <p:cNvSpPr/>
          <p:nvPr/>
        </p:nvSpPr>
        <p:spPr>
          <a:xfrm>
            <a:off x="2963780" y="3489155"/>
            <a:ext cx="2257926" cy="8582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ai</a:t>
            </a:r>
            <a:r>
              <a:rPr lang="zh-CN" altLang="en-US" dirty="0"/>
              <a:t>判断是要</a:t>
            </a:r>
            <a:endParaRPr lang="en-US" altLang="zh-CN" dirty="0"/>
          </a:p>
          <a:p>
            <a:pPr algn="ctr"/>
            <a:r>
              <a:rPr lang="zh-CN" altLang="en-US" dirty="0"/>
              <a:t>推荐导购</a:t>
            </a:r>
            <a:endParaRPr lang="en-US" altLang="zh-CN" dirty="0"/>
          </a:p>
          <a:p>
            <a:pPr algn="ctr"/>
            <a:r>
              <a:rPr lang="zh-CN" altLang="en-US" dirty="0"/>
              <a:t>还是退货</a:t>
            </a:r>
            <a:endParaRPr lang="en-US" altLang="zh-CN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965CDC2-E1C4-4663-A26C-BC73C5BFA93D}"/>
              </a:ext>
            </a:extLst>
          </p:cNvPr>
          <p:cNvSpPr/>
          <p:nvPr/>
        </p:nvSpPr>
        <p:spPr>
          <a:xfrm>
            <a:off x="697832" y="3521241"/>
            <a:ext cx="1483895" cy="7940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用户提问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AF19C0C-DB5C-4E5E-ACCD-7FEFF1BF01C4}"/>
              </a:ext>
            </a:extLst>
          </p:cNvPr>
          <p:cNvSpPr/>
          <p:nvPr/>
        </p:nvSpPr>
        <p:spPr>
          <a:xfrm>
            <a:off x="7980950" y="2035341"/>
            <a:ext cx="2430379" cy="8582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按导购流程执行</a:t>
            </a: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BBE0D1DC-78E5-4FDA-B62C-9B0F10D74856}"/>
              </a:ext>
            </a:extLst>
          </p:cNvPr>
          <p:cNvCxnSpPr>
            <a:cxnSpLocks/>
            <a:stCxn id="7" idx="3"/>
            <a:endCxn id="2" idx="1"/>
          </p:cNvCxnSpPr>
          <p:nvPr/>
        </p:nvCxnSpPr>
        <p:spPr>
          <a:xfrm flipV="1">
            <a:off x="2181727" y="3918282"/>
            <a:ext cx="78205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4AA3C565-46D9-463B-889A-AD573D582885}"/>
              </a:ext>
            </a:extLst>
          </p:cNvPr>
          <p:cNvCxnSpPr>
            <a:cxnSpLocks/>
            <a:stCxn id="2" idx="3"/>
            <a:endCxn id="8" idx="1"/>
          </p:cNvCxnSpPr>
          <p:nvPr/>
        </p:nvCxnSpPr>
        <p:spPr>
          <a:xfrm flipV="1">
            <a:off x="5221706" y="2464468"/>
            <a:ext cx="2759244" cy="14538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17CC9ECA-C128-49CE-B8FB-C0D9D090FADD}"/>
              </a:ext>
            </a:extLst>
          </p:cNvPr>
          <p:cNvSpPr/>
          <p:nvPr/>
        </p:nvSpPr>
        <p:spPr>
          <a:xfrm>
            <a:off x="7980949" y="3489154"/>
            <a:ext cx="2430379" cy="8582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按退货流程执行</a:t>
            </a:r>
          </a:p>
        </p:txBody>
      </p:sp>
      <p:sp>
        <p:nvSpPr>
          <p:cNvPr id="19" name="圆角矩形">
            <a:extLst>
              <a:ext uri="{FF2B5EF4-FFF2-40B4-BE49-F238E27FC236}">
                <a16:creationId xmlns:a16="http://schemas.microsoft.com/office/drawing/2014/main" id="{6941026A-23C5-4153-BD74-86C29599AC31}"/>
              </a:ext>
            </a:extLst>
          </p:cNvPr>
          <p:cNvSpPr/>
          <p:nvPr/>
        </p:nvSpPr>
        <p:spPr>
          <a:xfrm>
            <a:off x="387143" y="966217"/>
            <a:ext cx="11302997" cy="61219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67466" tIns="67466" rIns="67466" bIns="67466" anchor="ctr"/>
          <a:lstStyle/>
          <a:p>
            <a:pPr algn="just">
              <a:defRPr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510B39E-AF16-47D1-B3FD-99E71AD70A99}"/>
              </a:ext>
            </a:extLst>
          </p:cNvPr>
          <p:cNvSpPr txBox="1"/>
          <p:nvPr/>
        </p:nvSpPr>
        <p:spPr>
          <a:xfrm>
            <a:off x="387143" y="982994"/>
            <a:ext cx="10939603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假设我们的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应用，有帮用户做导购和退货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C777DB4D-20F6-4924-B7D5-5F4DC2CA5191}"/>
              </a:ext>
            </a:extLst>
          </p:cNvPr>
          <p:cNvCxnSpPr>
            <a:cxnSpLocks/>
            <a:stCxn id="2" idx="3"/>
            <a:endCxn id="17" idx="1"/>
          </p:cNvCxnSpPr>
          <p:nvPr/>
        </p:nvCxnSpPr>
        <p:spPr>
          <a:xfrm flipV="1">
            <a:off x="5221706" y="3918281"/>
            <a:ext cx="275924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9AD2CE55-2362-40B8-85A7-B507CEFDF2D4}"/>
              </a:ext>
            </a:extLst>
          </p:cNvPr>
          <p:cNvSpPr/>
          <p:nvPr/>
        </p:nvSpPr>
        <p:spPr>
          <a:xfrm>
            <a:off x="7980949" y="5033530"/>
            <a:ext cx="2430379" cy="8582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直接交给智能体</a:t>
            </a:r>
            <a:endParaRPr lang="en-US" altLang="zh-CN" dirty="0"/>
          </a:p>
          <a:p>
            <a:pPr algn="ctr"/>
            <a:r>
              <a:rPr lang="zh-CN" altLang="en-US" dirty="0"/>
              <a:t>走开放回答</a:t>
            </a:r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C58F7265-C5C0-4DA3-AA71-9E5CB84BED03}"/>
              </a:ext>
            </a:extLst>
          </p:cNvPr>
          <p:cNvCxnSpPr>
            <a:stCxn id="2" idx="3"/>
            <a:endCxn id="33" idx="1"/>
          </p:cNvCxnSpPr>
          <p:nvPr/>
        </p:nvCxnSpPr>
        <p:spPr>
          <a:xfrm>
            <a:off x="5221706" y="3918282"/>
            <a:ext cx="2759243" cy="1544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78364FC3-F620-4EA6-960A-C06C4E71258C}"/>
              </a:ext>
            </a:extLst>
          </p:cNvPr>
          <p:cNvSpPr txBox="1"/>
          <p:nvPr/>
        </p:nvSpPr>
        <p:spPr>
          <a:xfrm>
            <a:off x="5856944" y="2762248"/>
            <a:ext cx="1057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导购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129E756-F2F5-4058-A108-F1638DEDFFA6}"/>
              </a:ext>
            </a:extLst>
          </p:cNvPr>
          <p:cNvSpPr txBox="1"/>
          <p:nvPr/>
        </p:nvSpPr>
        <p:spPr>
          <a:xfrm>
            <a:off x="6323385" y="3472272"/>
            <a:ext cx="1057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退货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6A5E74F-206F-41F6-B99F-FF3CE4F4F0B7}"/>
              </a:ext>
            </a:extLst>
          </p:cNvPr>
          <p:cNvSpPr txBox="1"/>
          <p:nvPr/>
        </p:nvSpPr>
        <p:spPr>
          <a:xfrm>
            <a:off x="6072725" y="4866291"/>
            <a:ext cx="1057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都不是</a:t>
            </a:r>
          </a:p>
        </p:txBody>
      </p:sp>
    </p:spTree>
    <p:extLst>
      <p:ext uri="{BB962C8B-B14F-4D97-AF65-F5344CB8AC3E}">
        <p14:creationId xmlns:p14="http://schemas.microsoft.com/office/powerpoint/2010/main" val="2021904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8" grpId="0" animBg="1"/>
      <p:bldP spid="17" grpId="0" animBg="1"/>
      <p:bldP spid="33" grpId="0" animBg="1"/>
      <p:bldP spid="38" grpId="0"/>
      <p:bldP spid="39" grpId="0"/>
      <p:bldP spid="40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9373</TotalTime>
  <Words>507</Words>
  <Application>Microsoft Office PowerPoint</Application>
  <PresentationFormat>宽屏</PresentationFormat>
  <Paragraphs>55</Paragraphs>
  <Slides>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Adobe 仿宋 Std R</vt:lpstr>
      <vt:lpstr>Helvetica Neue Medium</vt:lpstr>
      <vt:lpstr>等线</vt:lpstr>
      <vt:lpstr>等线 Light</vt:lpstr>
      <vt:lpstr>思源黑体 CN Light</vt:lpstr>
      <vt:lpstr>思源黑体 CN Normal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2012dnd.com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2012dnd.com</dc:creator>
  <cp:lastModifiedBy>Administrator</cp:lastModifiedBy>
  <cp:revision>1339</cp:revision>
  <dcterms:created xsi:type="dcterms:W3CDTF">2022-03-28T09:24:54Z</dcterms:created>
  <dcterms:modified xsi:type="dcterms:W3CDTF">2026-07-22T14:16:14Z</dcterms:modified>
</cp:coreProperties>
</file>